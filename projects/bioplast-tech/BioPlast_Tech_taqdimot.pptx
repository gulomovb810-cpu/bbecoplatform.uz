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rish" id="{4849971a-b1ce-c7c1-fde8-1965422dc8ff}">
          <p14:sldIdLst>
            <p14:sldId id="256"/>
          </p14:sldIdLst>
        </p14:section>
        <p14:section name="Muammo va yechim" id="{21585dfb-30d6-3a24-235f-39aed06a3edc}">
          <p14:sldIdLst>
            <p14:sldId id="257"/>
            <p14:sldId id="258"/>
            <p14:sldId id="259"/>
          </p14:sldIdLst>
        </p14:section>
        <p14:section name="Texnologiya" id="{54140c54-f3a8-57d7-d61a-9e6be6f5e14a}">
          <p14:sldIdLst>
            <p14:sldId id="260"/>
            <p14:sldId id="261"/>
            <p14:sldId id="262"/>
            <p14:sldId id="263"/>
          </p14:sldIdLst>
        </p14:section>
        <p14:section name="Joylashuv" id="{985d57c0-fda5-5e1e-d2ea-36d65435521e}">
          <p14:sldIdLst>
            <p14:sldId id="264"/>
          </p14:sldIdLst>
        </p14:section>
        <p14:section name="Uskunalar" id="{bbcde960-2f4a-dd3b-6d2f-634981d45b0f}">
          <p14:sldIdLst>
            <p14:sldId id="265"/>
            <p14:sldId id="266"/>
          </p14:sldIdLst>
        </p14:section>
        <p14:section name="Iqtisodiyot" id="{2395fc97-0080-aba8-98c3-3fcd00a00d2d}">
          <p14:sldIdLst>
            <p14:sldId id="267"/>
            <p14:sldId id="268"/>
            <p14:sldId id="269"/>
            <p14:sldId id="270"/>
          </p14:sldIdLst>
        </p14:section>
        <p14:section name="Reja" id="{71b94728-478a-0e21-e2f7-8b92d12561be}">
          <p14:sldIdLst>
            <p14:sldId id="271"/>
          </p14:sldIdLst>
        </p14:section>
        <p14:section name="Xulosa" id="{4d8486fc-c4ca-a864-cacf-48bfaa093bc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D5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3D5C"/>
                </a:solidFill>
                <a:latin typeface="+mn-lt"/>
              </a:rPr>
              <a:t>Paket tannarxi tarkibi, $ / 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/ t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23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PBAT</c:v>
                  </c:pt>
                  <c:pt idx="1">
                    <c:v>PLA</c:v>
                  </c:pt>
                  <c:pt idx="2">
                    <c:v>PHA (ichki tannarxda)</c:v>
                  </c:pt>
                  <c:pt idx="3">
                    <c:v>Qadoqlash, bo'yoq</c:v>
                  </c:pt>
                  <c:pt idx="4">
                    <c:v>Elektr energiya</c:v>
                  </c:pt>
                  <c:pt idx="5">
                    <c:v>Qo'shimchalar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1099</c:v>
                </c:pt>
                <c:pt idx="1">
                  <c:v>654</c:v>
                </c:pt>
                <c:pt idx="2">
                  <c:v>175</c:v>
                </c:pt>
                <c:pt idx="3">
                  <c:v>110</c:v>
                </c:pt>
                <c:pt idx="4">
                  <c:v>83</c:v>
                </c:pt>
                <c:pt idx="5">
                  <c:v>76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23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23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C9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7A8C99"/>
                </a:solidFill>
                <a:latin typeface="+mn-lt"/>
              </a:rPr>
              <a:t>ming $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Daromad</c:v>
                </c:pt>
              </c:strCache>
            </c:strRef>
          </c:tx>
          <c:spPr>
            <a:solidFill>
              <a:srgbClr val="0B3D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  <c:pt idx="7">
                    <c:v>2034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1170</c:v>
                </c:pt>
                <c:pt idx="2">
                  <c:v>2345</c:v>
                </c:pt>
                <c:pt idx="3">
                  <c:v>3134</c:v>
                </c:pt>
                <c:pt idx="4">
                  <c:v>3327</c:v>
                </c:pt>
                <c:pt idx="5">
                  <c:v>3327</c:v>
                </c:pt>
                <c:pt idx="6">
                  <c:v>3327</c:v>
                </c:pt>
                <c:pt idx="7">
                  <c:v>3327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  <c:pt idx="7">
                    <c:v>2034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-208</c:v>
                </c:pt>
                <c:pt idx="1">
                  <c:v>120</c:v>
                </c:pt>
                <c:pt idx="2">
                  <c:v>456</c:v>
                </c:pt>
                <c:pt idx="3">
                  <c:v>763</c:v>
                </c:pt>
                <c:pt idx="4">
                  <c:v>840</c:v>
                </c:pt>
                <c:pt idx="5">
                  <c:v>840</c:v>
                </c:pt>
                <c:pt idx="6">
                  <c:v>840</c:v>
                </c:pt>
                <c:pt idx="7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3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8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C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423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Loyiha yangilangan: real bozor narxlari, real uskuna narxlari va ikki bosqichli rivojlanish rejasi.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8686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BioPlast Tech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BioPlast Tech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Mikroorganizmlar yordamida biologik parchalanadigan plastik (PHA) va undan kompost bo‘ladigan paket hamda plyonkalar ishlab chiqarish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Asilbekova Z. · Toshkent kimyo-texnologiya instituti · 2026 · Versiya 2.0</a:t>
            </a:r>
            <a:endParaRPr lang="en-US" sz="1400" dirty="0"/>
          </a:p>
        </p:txBody>
      </p:sp>
      <p:sp>
        <p:nvSpPr>
          <p:cNvPr id="5" name="motif circle"/>
          <p:cNvSpPr/>
          <p:nvPr/>
        </p:nvSpPr>
        <p:spPr>
          <a:xfrm>
            <a:off x="9692640" y="64008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0" y="64008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Plastik chiqindining atigi 9% i qayta ishlanadi</a:t>
            </a:r>
            <a:endParaRPr lang="en-US" sz="3400" dirty="0"/>
          </a:p>
        </p:txBody>
      </p:sp>
      <p:sp>
        <p:nvSpPr>
          <p:cNvPr id="3" name="stat card 0"/>
          <p:cNvSpPr/>
          <p:nvPr/>
        </p:nvSpPr>
        <p:spPr>
          <a:xfrm>
            <a:off x="548640" y="141732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460 mln 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plastik ishlatilgan (2019)</a:t>
            </a:r>
            <a:endParaRPr lang="en-US" sz="1400" dirty="0"/>
          </a:p>
        </p:txBody>
      </p:sp>
      <p:sp>
        <p:nvSpPr>
          <p:cNvPr id="6" name="stat card 1"/>
          <p:cNvSpPr/>
          <p:nvPr/>
        </p:nvSpPr>
        <p:spPr>
          <a:xfrm>
            <a:off x="3364992" y="141732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 mln t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35915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plastik chiqindi hosil bo‘lgan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6181344" y="141732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5915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chiqindi qayta ishlangan</a:t>
            </a:r>
            <a:endParaRPr lang="en-US" sz="1400" dirty="0"/>
          </a:p>
        </p:txBody>
      </p:sp>
      <p:sp>
        <p:nvSpPr>
          <p:cNvPr id="12" name="stat card 3"/>
          <p:cNvSpPr/>
          <p:nvPr/>
        </p:nvSpPr>
        <p:spPr>
          <a:xfrm>
            <a:off x="8997696" y="141732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35915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nazoratsiz tashlangan yoki tabiatga chiqqan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0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Manba: OECD Global Plastics Outlook, 2022</a:t>
            </a:r>
            <a:endParaRPr lang="en-US" sz="1000" dirty="0"/>
          </a:p>
        </p:txBody>
      </p:sp>
      <p:sp>
        <p:nvSpPr>
          <p:cNvPr id="16" name="uz card"/>
          <p:cNvSpPr/>
          <p:nvPr/>
        </p:nvSpPr>
        <p:spPr>
          <a:xfrm>
            <a:off x="548640" y="4023360"/>
            <a:ext cx="110642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O‘zbekistonda: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2025-yil yanvarida e’lon qilingan davlat dasturi loyihasida 2027-yildan polietilen paketlarni ishlab chiqarish, import qilish va ishlatishni taqiqlash taklif etilgan (Kun.uz, Gazeta.uz).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Dastur hali yakuniy qabul qilinmagan — shuning uchun moliyaviy model taqiqsiz hisoblangan. Taqiq qabul qilinsa, bu qo‘shimcha imkoniyat.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Yechim: ikki yo‘nalishni birlashtirgan korxona</a:t>
            </a:r>
            <a:endParaRPr lang="en-US" sz="3400" dirty="0"/>
          </a:p>
        </p:txBody>
      </p:sp>
      <p:sp>
        <p:nvSpPr>
          <p:cNvPr id="3" name="line A"/>
          <p:cNvSpPr/>
          <p:nvPr/>
        </p:nvSpPr>
        <p:spPr>
          <a:xfrm>
            <a:off x="548640" y="1371600"/>
            <a:ext cx="539496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ne B"/>
          <p:cNvSpPr/>
          <p:nvPr/>
        </p:nvSpPr>
        <p:spPr>
          <a:xfrm>
            <a:off x="6217920" y="1371600"/>
            <a:ext cx="539496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1. Biotexnologiya: PHA ishlab chiqarish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Bakteriya Cupriavidus necator yog‘ chiqindisini PHA ga aylantiradi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Xomashyo: ishlatilgan yog‘, yog‘-moy kombinatlari soapstoki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PHA tuproqda, uy kompostida va dengizda parchalanadi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Quvvat: ~58 t/yil (2 × 10 m³ fermenter)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 Tayyor mahsulot: paket va plyonka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PHA + PBAT + PLA aralashmasidan kompost bo‘ladigan paket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Organik chiqindi qoplari, fermerlar uchun mulcha plyonka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Birinchi yildan daromad beradi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Quvvat: 1 080 t/yil (2 ta plyonka liniyasi)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Nega birga? Kichik masshtabda faqat PHA sotish foyda keltirmaydi. Tayyor mahsulot daromad beradi, o‘z PHA miz esa raqobatchilarda yo‘q xususiyat beradi.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PHA, PLA va PBAT: qayerda parchalanadi</a:t>
            </a:r>
            <a:endParaRPr lang="en-US" sz="34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834640"/>
                <a:gridCol w="2926080"/>
                <a:gridCol w="26517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PHA (PHB/PHBV)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PBAT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Qanday olinadi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Bakteriya hujayrasida to‘planadi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Shakar → sut kislotasi → kimyoviy polimerlash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Neft-kimyo sintezi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Sanoat kompostida (58 °C)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Uy kompostida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Yo‘q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Aralashmada qisman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Tuproqda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Yo‘q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Aralashmada (EN 17033)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Dengizda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Yo‘q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Yo‘q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Narx (2025)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$3 400–3 700/t +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$2 000–2 500/t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≈$1 400/t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Tuzatish: PLA bakteriyadan to‘g‘ridan-to‘g‘ri olinmaydi va tabiatda 6–12 oyda parchalanmaydi — unga 58 °C li sanoat kompostlash kerak. Tabiiy sharoitda tez parchalanadigan polimer — PHA.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Standartlar: EN 13432 (sanoat kompost), OK compost HOME, EN 17033 (mulcha plyonka), OK biodegradable MARINE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Bakteriya qanday qilib plastik yasaydi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Uglerod ko‘p + azot kam = PHA to‘planadi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Odam ortiqcha energiyani yog‘ sifatida saqlagani kabi, bakteriya ortiqcha uglerodni hujayra ichida PHA donachalari sifatida saqlaydi. C. necator da PHA hujayra quruq massasining 70–80% iga yetadi.</a:t>
            </a:r>
            <a:endParaRPr lang="en-US" sz="1700" dirty="0"/>
          </a:p>
        </p:txBody>
      </p:sp>
      <p:sp>
        <p:nvSpPr>
          <p:cNvPr id="4" name="enzyme 0"/>
          <p:cNvSpPr/>
          <p:nvPr/>
        </p:nvSpPr>
        <p:spPr>
          <a:xfrm>
            <a:off x="548640" y="2743200"/>
            <a:ext cx="25146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Atsetil-KoA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yog‘ parchalanishidan</a:t>
            </a:r>
            <a:endParaRPr lang="en-US" sz="1300" dirty="0"/>
          </a:p>
        </p:txBody>
      </p:sp>
      <p:sp>
        <p:nvSpPr>
          <p:cNvPr id="7" name="arrow 0"/>
          <p:cNvSpPr/>
          <p:nvPr/>
        </p:nvSpPr>
        <p:spPr>
          <a:xfrm>
            <a:off x="3108960" y="3291840"/>
            <a:ext cx="274320" cy="36576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enzyme 1"/>
          <p:cNvSpPr/>
          <p:nvPr/>
        </p:nvSpPr>
        <p:spPr>
          <a:xfrm>
            <a:off x="3429000" y="2743200"/>
            <a:ext cx="25146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Atsetoatsetil-KoA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520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PhaA (β-ketotiolaza)</a:t>
            </a:r>
            <a:endParaRPr lang="en-US" sz="1300" dirty="0"/>
          </a:p>
        </p:txBody>
      </p:sp>
      <p:sp>
        <p:nvSpPr>
          <p:cNvPr id="11" name="arrow 1"/>
          <p:cNvSpPr/>
          <p:nvPr/>
        </p:nvSpPr>
        <p:spPr>
          <a:xfrm>
            <a:off x="5989320" y="3291840"/>
            <a:ext cx="274320" cy="36576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enzyme 2"/>
          <p:cNvSpPr/>
          <p:nvPr/>
        </p:nvSpPr>
        <p:spPr>
          <a:xfrm>
            <a:off x="6309360" y="2743200"/>
            <a:ext cx="25146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3-gidroksibutiril-KoA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20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PhaB (reduktaza, NADPH)</a:t>
            </a:r>
            <a:endParaRPr lang="en-US" sz="1300" dirty="0"/>
          </a:p>
        </p:txBody>
      </p:sp>
      <p:sp>
        <p:nvSpPr>
          <p:cNvPr id="15" name="arrow 2"/>
          <p:cNvSpPr/>
          <p:nvPr/>
        </p:nvSpPr>
        <p:spPr>
          <a:xfrm>
            <a:off x="8869680" y="3291840"/>
            <a:ext cx="274320" cy="36576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enzyme 3"/>
          <p:cNvSpPr/>
          <p:nvPr/>
        </p:nvSpPr>
        <p:spPr>
          <a:xfrm>
            <a:off x="9189720" y="2743200"/>
            <a:ext cx="2514600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834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PHB donachasi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5204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PhaC (PHA-sintaza)</a:t>
            </a:r>
            <a:endParaRPr lang="en-US" sz="1300" dirty="0"/>
          </a:p>
        </p:txBody>
      </p:sp>
      <p:sp>
        <p:nvSpPr>
          <p:cNvPr id="19" name="phase1"/>
          <p:cNvSpPr/>
          <p:nvPr/>
        </p:nvSpPr>
        <p:spPr>
          <a:xfrm>
            <a:off x="548640" y="4572000"/>
            <a:ext cx="53949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hase2"/>
          <p:cNvSpPr/>
          <p:nvPr/>
        </p:nvSpPr>
        <p:spPr>
          <a:xfrm>
            <a:off x="6217920" y="4572000"/>
            <a:ext cx="53949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1-faza: o‘sish (24–30 soat)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Azot yetarli — bakteriyalar ko‘payadi, biomassa to‘planadi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663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2-faza: to‘planish (24–48 soat)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Azot cheklanadi, yog‘ beriladi — hujayra PHA bilan to‘ladi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Shtamm tanlovi: Cupriavidus necator H16</a:t>
            </a:r>
            <a:endParaRPr lang="en-US" sz="3400" dirty="0"/>
          </a:p>
        </p:txBody>
      </p:sp>
      <p:sp>
        <p:nvSpPr>
          <p:cNvPr id="3" name="strain 0"/>
          <p:cNvSpPr/>
          <p:nvPr/>
        </p:nvSpPr>
        <p:spPr>
          <a:xfrm>
            <a:off x="548640" y="137160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ASOSIY SHTAMM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Cupriavidus necator H16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Eski nomi Ralstonia eutropha (bu bitta tur). PHB/PHBV; o‘simlik yog‘ida yuqori chiqish; GMO emas, 1-xavf guruhi.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617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DSMZ: DSM 428 · ATCC 17699</a:t>
            </a:r>
            <a:endParaRPr lang="en-US" sz="1300" dirty="0"/>
          </a:p>
        </p:txBody>
      </p:sp>
      <p:sp>
        <p:nvSpPr>
          <p:cNvPr id="8" name="strain 1"/>
          <p:cNvSpPr/>
          <p:nvPr/>
        </p:nvSpPr>
        <p:spPr>
          <a:xfrm>
            <a:off x="4297680" y="137160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QO‘SHIMCHA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20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Pseudomonas putida KT2440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78892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Elastik (kauchuksimon) mcl-PHA; yog‘ kislotalari va glitserinda o‘sadi.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4617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DSMZ: DSM 6125 · ATCC 47054</a:t>
            </a:r>
            <a:endParaRPr lang="en-US" sz="1300" dirty="0"/>
          </a:p>
        </p:txBody>
      </p:sp>
      <p:sp>
        <p:nvSpPr>
          <p:cNvPr id="13" name="strain 2"/>
          <p:cNvSpPr/>
          <p:nvPr/>
        </p:nvSpPr>
        <p:spPr>
          <a:xfrm>
            <a:off x="8046720" y="137160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KELAJAK UCHUN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920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Haloferax mediterranei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78892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Sho‘r muhitda o‘sadi — sterilizatsiyasiz ishlash, energiya tejash. PHBV beradi.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4617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DSMZ: DSM 1411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Dastlabki taqdimotdagi «Ralstonia eutropha» va «Cupriavidus mecator» — aslida bitta bakteriya (to‘g‘ri yozilishi: Cupriavidus necator).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Texnologik jarayon: yog‘dan paketgacha</a:t>
            </a:r>
            <a:endParaRPr lang="en-US" sz="3400" dirty="0"/>
          </a:p>
        </p:txBody>
      </p:sp>
      <p:pic>
        <p:nvPicPr>
          <p:cNvPr id="3" name="process flow" descr="Texnologik sxema: xomashyo, urug‘, fermentatsiya, ajratish, quritish, kompaundlash, mahsul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27706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43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°C · pH 6,8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14807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fermentatsiya rejimi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364992" y="4343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48–72 soat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3364992" y="514807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bir partiya fermentatsiyasi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181344" y="4343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≥95%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181344" y="514807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PHA tozaligi (erituvchisiz)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97696" y="4343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150–175 °C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8997696" y="514807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kompaundlash harorati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Bitta 10 m³ fermenter partiyasi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7 000 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67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ishchi hajm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63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g/L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67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yakuniy PHA konsentratsiyasi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463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≈357 kg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267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tayyor PHA (85% ajratish unumi)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≈760 kg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53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sarflangan yog‘ (0,55 kg/kg)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749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sutka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4553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partiya sikli (72 soat + yuvish)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749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≈57 t/yil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45537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 fermenter × 160 partiya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Taqqoslash: dastlabki taqdimotdagi «oyiga 50 t» uchun ≈600 m³ fermenter hajmi kerak bo‘lardi.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Joylashuv: Chirchiq, 1,8 gektar</a:t>
            </a:r>
            <a:endParaRPr lang="en-US" sz="3400" dirty="0"/>
          </a:p>
        </p:txBody>
      </p:sp>
      <p:pic>
        <p:nvPicPr>
          <p:cNvPr id="3" name="site plan" descr="BioPlast Tech bosh rejasi: ishlab chiqarish binosi, ombor, ma’muriy bino, yog‘ parki, KPP, tarozi, yong‘in suvi, 3-faza zaxira maydo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4944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607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Bosh reja (shimol — yuqorida). 3D modeldan olingan.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3258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Toshkent vil.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13055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Chirchiq kimyo-industrial texnoparki (30 yillik maxsus rejim)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8803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 ga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36850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150 × 120 m; minimal 1,2 ga (1–2-faza)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42519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Xomashyo va bozor Toshkentda, ≈35 km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TKTI yaqin; gaz, 10 kV, temir yo‘l tayyor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Zaxira variant: «Qo‘qon» EIZ (soapstok, mulcha bozori)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Qurilish zichligi 17%, 3-faza uchun 0,15 ga zaxira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Asosiy uskunalar va yetkazib beruvchilar</a:t>
            </a:r>
            <a:endParaRPr lang="en-US" sz="34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822960"/>
                <a:gridCol w="14630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Uskuna guruhi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Faza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Narx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Yetkazib beruvchilar (misol)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Laboratoriya: 5 L bioreaktorlar, GC-FID, avtoklav, shaker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$109 500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Sartorius, Eppendorf, Agilent, Shimadzu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Pilot fermenter 300 L + pilot ajratish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$67 000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Bailun, T&amp;J Bio-engineering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Kompaundlash ekstruderi + 2 plyonka liniyasi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1–2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$225 000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Coperion, Nanjing Kerke, Ruian Ruipai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Paket mashinalari, fleksobosma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$58 000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Ruian Xinye, Ruian Changhong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Fermenterlar: 1 m³ urug‘ + 2 × 10 m³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$220 000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Bailun, T&amp;J, Bioengineering AG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Ajratish: 2 separator, reaktorlar, purkab quritgich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$200 000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Alfa Laval, GEA, Changzhou Lemar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Utilitalar: bug‘ qozoni, havo, sovutish, suv, oqova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$230 000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Atlas Copco, Bosch, Siemens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232E"/>
                          </a:solidFill>
                        </a:rPr>
                        <a:t>Jami CAPEX (montaj, logistika, zaxira bilan)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4232E"/>
                          </a:solidFill>
                        </a:rPr>
                        <a:t>$1 703 972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Narxlar — ochiq bozor e’lonlari asosidagi taxmin. Har bir pozitsiya bo‘yicha kamida 3 ta tijorat taklifi (KP) olinadi.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Uskuna rasmlarini qayerdan olish mumkin</a:t>
            </a:r>
            <a:endParaRPr lang="en-US" sz="3400" dirty="0"/>
          </a:p>
        </p:txBody>
      </p:sp>
      <p:sp>
        <p:nvSpPr>
          <p:cNvPr id="3" name="src 0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Rasmiy saytlar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sartorius.com · eppendorf.com · alfalaval.com · gea.com · coperion.com · agilent.com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Eng sifatli rasmlar va texnik tavsif</a:t>
            </a:r>
            <a:endParaRPr lang="en-US" sz="1300" dirty="0"/>
          </a:p>
        </p:txBody>
      </p:sp>
      <p:sp>
        <p:nvSpPr>
          <p:cNvPr id="7" name="src 1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B2B maydonchalar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alibaba.com · made-in-china.com (fermenter, blown film machine)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880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Narx bilan birga; so‘rovga HD rasm va video yuboriladi</a:t>
            </a:r>
            <a:endParaRPr lang="en-US" sz="1300" dirty="0"/>
          </a:p>
        </p:txBody>
      </p:sp>
      <p:sp>
        <p:nvSpPr>
          <p:cNvPr id="11" name="src 2"/>
          <p:cNvSpPr/>
          <p:nvPr/>
        </p:nvSpPr>
        <p:spPr>
          <a:xfrm>
            <a:off x="54864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Erkin litsenziya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891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commons.wikimedia.org — «Bioreactor», «Spray dryer», «Blown film extrusion»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CC litsenziya — muallifni ko‘rsatish kifoya</a:t>
            </a:r>
            <a:endParaRPr lang="en-US" sz="1300" dirty="0"/>
          </a:p>
        </p:txBody>
      </p:sp>
      <p:sp>
        <p:nvSpPr>
          <p:cNvPr id="15" name="src 3"/>
          <p:cNvSpPr/>
          <p:nvPr/>
        </p:nvSpPr>
        <p:spPr>
          <a:xfrm>
            <a:off x="6172200" y="3703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O‘z laboratoriyangiz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3891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PHA donachalarini Nil qizili yoki Sudan qora B bilan bo‘yab mikroskopda suratga olish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</a:rPr>
              <a:t>Eng kuchli dalil: real natija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Dastlabki taqdimotdagi AI-rasmlar o‘rniga real uskuna va real mikroskop suratlarini qo‘ying — komissiya ishonchi oshadi.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t paket tannarxi $2 195, sotish narxi $3 900</a:t>
            </a:r>
            <a:endParaRPr lang="en-US" sz="3400" dirty="0"/>
          </a:p>
        </p:txBody>
      </p:sp>
      <p:graphicFrame>
        <p:nvGraphicFramePr>
          <p:cNvPr id="3" name="unit cost chart" descr=""/>
          <p:cNvGraphicFramePr/>
          <p:nvPr/>
        </p:nvGraphicFramePr>
        <p:xfrm>
          <a:off x="548640" y="132588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4630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$1 705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2677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marjinal foyda 1 t paketdan (43,7%)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30175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$2 561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822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 t PHA ning o‘z tannarxi (bozor narxi $3 400–4 500)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47091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Dastlabki taqdimotda: tannarx $95/t, narx $250/t — bu hatto polietilendan (~$1 200/t) ham 5 baravar arzon edi.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2031-yilda $3,3 mln daromad va $0,84 mln EBITDA</a:t>
            </a:r>
            <a:endParaRPr lang="en-US" sz="3400" dirty="0"/>
          </a:p>
        </p:txBody>
      </p:sp>
      <p:graphicFrame>
        <p:nvGraphicFramePr>
          <p:cNvPr id="3" name="forecast chart" descr=""/>
          <p:cNvGraphicFramePr/>
          <p:nvPr/>
        </p:nvGraphicFramePr>
        <p:xfrm>
          <a:off x="548640" y="132588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95360" y="1463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25,3%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22677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EBITDA rentabelligi (2031)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$533 326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3730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sof foyda (2031)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43891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 t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519379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paket/plyonka + ~3 t toza PHA sotuvi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Investitsiya va samaradorlik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$1,70 mln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762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jami CAPEX (2 faza)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3716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$2,10 mln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1762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moliyalashtirish ehtiyoji (aylanma mablag‘ bilan)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 yil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1762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qoplanish muddati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16,2%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5079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IRR (7 yil, qoldiq qiymatsiz)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246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$1 469 465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405079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NPV 15% (qoldiq qiymat bilan)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246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362 t/yil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405079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zararsizlik nuqtasi</a:t>
            </a:r>
            <a:endParaRPr lang="en-US" sz="14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074920"/>
          <a:ext cx="1106424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2377440"/>
                <a:gridCol w="2194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Manba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Ulush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Bank krediti (10%, 1,5 yil imtiyoz, 5 yil)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$851 986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40,5%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Innovatsion grant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$50 000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2,4%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Investor / ta’sischi (seed + A raund)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$1 201 986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57,1%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Dastlabki raqamlar va tuzatilgan model</a:t>
            </a:r>
            <a:endParaRPr lang="en-US" sz="34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2377440"/>
                <a:gridCol w="48463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Ko‘rsatkich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Dastlabki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Tuzatilgan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Asos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1 t sotish narxi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$250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$3 900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Kompost paket bozori; PHA $3 400–3 700/t (IMARC)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1 t tannarx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$95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$2 195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Faqat yog‘ xomashyosi ≈$900 / t PHA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Investitsiya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$60 000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$1 703 972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10 m³ fermenter $50–90 ming, separator ≈$70 ming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Oylik hajm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50 t PHA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71 t paket + 4,8 t PHA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Real uskuna quvvati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Yillik foyda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$93 000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$533 326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Barqaror yil, soliq va foiz bilan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Qoplanish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8 oy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4,6 yil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Biotexnologiya uchun odatiy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Bakteriyalar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3 xil tur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C. necator H16 asosiy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E"/>
                          </a:solidFill>
                        </a:rPr>
                        <a:t>R. eutropha = C. necator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Yangi raqamlar kamtarroq, lekin investor, bank va grant komissiyasi tekshiruvidan o‘ta oladi.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Amalga oshirish rejasi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685800" y="19659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2026 IV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MChJ, TKTI bilan shartnoma, shtamm, grant arizasi</a:t>
            </a:r>
            <a:endParaRPr lang="en-US" sz="1400" dirty="0"/>
          </a:p>
        </p:txBody>
      </p:sp>
      <p:sp>
        <p:nvSpPr>
          <p:cNvPr id="7" name="dot 1"/>
          <p:cNvSpPr/>
          <p:nvPr/>
        </p:nvSpPr>
        <p:spPr>
          <a:xfrm>
            <a:off x="2926080" y="19659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2027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5146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Laboratoriya, 300 L pilot, 1-plyonka liniyasi, sertifikatlash</a:t>
            </a:r>
            <a:endParaRPr lang="en-US" sz="1400" dirty="0"/>
          </a:p>
        </p:txBody>
      </p:sp>
      <p:sp>
        <p:nvSpPr>
          <p:cNvPr id="10" name="dot 2"/>
          <p:cNvSpPr/>
          <p:nvPr/>
        </p:nvSpPr>
        <p:spPr>
          <a:xfrm>
            <a:off x="5166360" y="19659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2028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5146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Sotuv 300 t, OK compost sertifikati, A raund</a:t>
            </a:r>
            <a:endParaRPr lang="en-US" sz="1400" dirty="0"/>
          </a:p>
        </p:txBody>
      </p:sp>
      <p:sp>
        <p:nvSpPr>
          <p:cNvPr id="13" name="dot 3"/>
          <p:cNvSpPr/>
          <p:nvPr/>
        </p:nvSpPr>
        <p:spPr>
          <a:xfrm>
            <a:off x="7406640" y="1965960"/>
            <a:ext cx="365760" cy="36576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6948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2029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25146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× 10 m³ fermenter, PHA zavodi ishga tushadi</a:t>
            </a:r>
            <a:endParaRPr lang="en-US" sz="1400" dirty="0"/>
          </a:p>
        </p:txBody>
      </p:sp>
      <p:sp>
        <p:nvSpPr>
          <p:cNvPr id="16" name="dot 4"/>
          <p:cNvSpPr/>
          <p:nvPr/>
        </p:nvSpPr>
        <p:spPr>
          <a:xfrm>
            <a:off x="9646920" y="19659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0" y="1371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2030–31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0" y="251460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850 t/yil, mulcha plyonka, eksport</a:t>
            </a:r>
            <a:endParaRPr lang="en-US" sz="14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Asosiy xavf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Kamaytirish choralari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A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Paket narxi past (arzon import, soxta «eko-paket»)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Xalqaro sertifikat, markirovka, sinov protokollari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PBAT/PLA narxi va valyuta kursi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2–3 yetkazib beruvchi, 2–3 oylik zaxira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Fermentatsiyada kontaminatsiya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SIP/CIP, steril filtrlar, urug‘ zaxirasi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2-faza uchun mablag‘ jalb qilinmasligi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2E"/>
                          </a:solidFill>
                        </a:rPr>
                        <a:t>Bosqichli jalb qilish: 1-faza o‘zi daromad keltiradi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Xulosa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64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Real narxlar, real uskunalar, bosqichma-bosqich rivojlanish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1-faza: sertifikatlangan kompost paketdan daromad + PHA pilot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2-faza: o‘z PHA zavodi — tuproqda va uy kompostida parchalanadigan mahsulot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$1,70 mln investitsiya → 2031-yilda $3,33 mln daromad, 35 ish o‘rni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BioPlast Tech: kelajakni bugundan yaratamiz!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Plast Ocean">
  <a:themeElements>
    <a:clrScheme name="BioPlast Ocean">
      <a:dk1>
        <a:srgbClr val="14232E"/>
      </a:dk1>
      <a:lt1>
        <a:srgbClr val="FFFFFF"/>
      </a:lt1>
      <a:dk2>
        <a:srgbClr val="0B3D5C"/>
      </a:dk2>
      <a:lt2>
        <a:srgbClr val="EAF3F1"/>
      </a:lt2>
      <a:accent1>
        <a:srgbClr val="1F8A70"/>
      </a:accent1>
      <a:accent2>
        <a:srgbClr val="0B3D5C"/>
      </a:accent2>
      <a:accent3>
        <a:srgbClr val="F2A541"/>
      </a:accent3>
      <a:accent4>
        <a:srgbClr val="5FB49C"/>
      </a:accent4>
      <a:accent5>
        <a:srgbClr val="C0504D"/>
      </a:accent5>
      <a:accent6>
        <a:srgbClr val="7A8C99"/>
      </a:accent6>
      <a:hlink>
        <a:srgbClr val="1F6FA8"/>
      </a:hlink>
      <a:folHlink>
        <a:srgbClr val="6B4FA0"/>
      </a:folHlink>
    </a:clrScheme>
    <a:fontScheme name="BioPlast Oce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BioPlast Tech — takomillashtirilgan loyiha</dc:title>
  <dc:subject>PptxGenJS Presentation</dc:subject>
  <dc:creator>Asilbekova Z.</dc:creator>
  <cp:lastModifiedBy>Asilbekova Z.</cp:lastModifiedBy>
  <cp:revision>1</cp:revision>
  <dcterms:created xsi:type="dcterms:W3CDTF">2026-10-25T11:15:31Z</dcterms:created>
  <dcterms:modified xsi:type="dcterms:W3CDTF">2026-10-25T11:15:31Z</dcterms:modified>
</cp:coreProperties>
</file>